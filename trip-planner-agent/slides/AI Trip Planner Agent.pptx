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9" r:id="rId7"/>
    <p:sldId id="264" r:id="rId8"/>
    <p:sldId id="265" r:id="rId9"/>
    <p:sldId id="267" r:id="rId10"/>
  </p:sldIdLst>
  <p:sldSz cx="12192000" cy="6858000"/>
  <p:notesSz cx="6858000" cy="9144000"/>
  <p:embeddedFontLst>
    <p:embeddedFont>
      <p:font typeface="Space Grotesk" panose="020B0604020202020204" charset="0"/>
      <p:regular r:id="rId12"/>
      <p:bold r:id="rId13"/>
    </p:embeddedFont>
    <p:embeddedFont>
      <p:font typeface="Space Grotesk Medium" panose="020B0604020202020204" charset="0"/>
      <p:regular r:id="rId14"/>
      <p:bold r:id="rId15"/>
    </p:embeddedFont>
    <p:embeddedFont>
      <p:font typeface="Urbanist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85C5DC-F9E9-47B8-B0DE-169631869D75}">
  <a:tblStyle styleId="{3085C5DC-F9E9-47B8-B0DE-169631869D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50" autoAdjust="0"/>
  </p:normalViewPr>
  <p:slideViewPr>
    <p:cSldViewPr snapToGrid="0">
      <p:cViewPr varScale="1">
        <p:scale>
          <a:sx n="58" d="100"/>
          <a:sy n="58" d="100"/>
        </p:scale>
        <p:origin x="96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3410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18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967954"/>
            <a:ext cx="11581447" cy="859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Trip </a:t>
            </a:r>
            <a:r>
              <a:rPr lang="en-US" sz="61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Planner</a:t>
            </a:r>
            <a:r>
              <a:rPr lang="en-US" sz="6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Agent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017490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Autonomous Web-Research &amp; Itinerary Generation Powered by LangGraph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44237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QAU | GROUP PROJECT ASSIGNMENT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AF3206-B337-D0F6-6AD2-048AF7422B36}"/>
              </a:ext>
            </a:extLst>
          </p:cNvPr>
          <p:cNvSpPr txBox="1"/>
          <p:nvPr/>
        </p:nvSpPr>
        <p:spPr>
          <a:xfrm>
            <a:off x="7805057" y="4747170"/>
            <a:ext cx="3805918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C000"/>
                </a:solidFill>
                <a:effectLst/>
                <a:latin typeface="Urbanist" panose="020B0604020202020204" charset="0"/>
              </a:rPr>
              <a:t>Presented by:</a:t>
            </a:r>
          </a:p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FFC000"/>
                </a:solidFill>
                <a:latin typeface="Urbanist" panose="020B0604020202020204" charset="0"/>
              </a:rPr>
              <a:t>          </a:t>
            </a:r>
            <a:r>
              <a:rPr lang="en-US" sz="1800" b="1" i="0" u="none" strike="noStrike" dirty="0">
                <a:solidFill>
                  <a:srgbClr val="FFC000"/>
                </a:solidFill>
                <a:effectLst/>
                <a:latin typeface="Urbanist" panose="020B0604020202020204" charset="0"/>
              </a:rPr>
              <a:t>Maayra Anjum</a:t>
            </a:r>
            <a:r>
              <a:rPr lang="en-US" sz="1800" b="0" i="0" u="none" strike="noStrike" dirty="0">
                <a:solidFill>
                  <a:srgbClr val="FFC000"/>
                </a:solidFill>
                <a:effectLst/>
                <a:latin typeface="Urbanist" panose="020B0604020202020204" charset="0"/>
              </a:rPr>
              <a:t> </a:t>
            </a:r>
            <a:r>
              <a:rPr lang="en-US" sz="1800" b="0" i="0" u="none" strike="noStrike" dirty="0">
                <a:solidFill>
                  <a:srgbClr val="F8FAFC"/>
                </a:solidFill>
                <a:effectLst/>
                <a:latin typeface="Urbanist" panose="020B0604020202020204" charset="0"/>
              </a:rPr>
              <a:t>04162213026</a:t>
            </a:r>
            <a:endParaRPr lang="en-US" sz="1800" b="0" dirty="0">
              <a:effectLst/>
            </a:endParaRPr>
          </a:p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C000"/>
                </a:solidFill>
                <a:effectLst/>
                <a:latin typeface="Urbanist" panose="020B0604020202020204" charset="0"/>
              </a:rPr>
              <a:t>          Ishfa Waleed </a:t>
            </a:r>
            <a:r>
              <a:rPr lang="en-US" sz="1800" b="0" i="0" u="none" strike="noStrike" dirty="0">
                <a:solidFill>
                  <a:srgbClr val="F8FAFC"/>
                </a:solidFill>
                <a:effectLst/>
                <a:latin typeface="Urbanist" panose="020B0604020202020204" charset="0"/>
              </a:rPr>
              <a:t>04162213030</a:t>
            </a:r>
            <a:endParaRPr lang="en-US" sz="1800" b="0" dirty="0">
              <a:effectLst/>
            </a:endParaRPr>
          </a:p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C000"/>
                </a:solidFill>
                <a:effectLst/>
                <a:latin typeface="Urbanist" panose="020B0604020202020204" charset="0"/>
              </a:rPr>
              <a:t>           Rubab Zahra </a:t>
            </a:r>
            <a:r>
              <a:rPr lang="en-US" sz="1800" b="0" i="0" u="none" strike="noStrike" dirty="0">
                <a:solidFill>
                  <a:srgbClr val="F8FAFC"/>
                </a:solidFill>
                <a:effectLst/>
                <a:latin typeface="Urbanist" panose="020B0604020202020204" charset="0"/>
              </a:rPr>
              <a:t>04162213018</a:t>
            </a:r>
            <a:endParaRPr lang="en-US" sz="1800" b="0" dirty="0">
              <a:effectLst/>
            </a:endParaRPr>
          </a:p>
          <a:p>
            <a:pPr>
              <a:lnSpc>
                <a:spcPct val="150000"/>
              </a:lnSpc>
            </a:pPr>
            <a:br>
              <a:rPr lang="en-US" sz="1800" dirty="0"/>
            </a:br>
            <a:endParaRPr lang="en-PK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185636" y="3091755"/>
            <a:ext cx="5820727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Overview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200400" y="3968055"/>
            <a:ext cx="57912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Redefining travel planning with agentic workflows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8125" y="1247776"/>
            <a:ext cx="53721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1162050"/>
            <a:ext cx="53721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175385" y="1552575"/>
            <a:ext cx="49206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Challenge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466725" y="2362200"/>
            <a:ext cx="4686300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Manual travel planning is fragmented and time-consuming. Travelers spend hours researching destinations, attractions, food options, and budgets across multiple sources.</a:t>
            </a:r>
            <a:endParaRPr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819900" y="1476490"/>
            <a:ext cx="423052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cs typeface="Space Grotesk Medium" panose="020B0604020202020204" charset="0"/>
              </a:rPr>
              <a:t>Who Is It For &amp; Why Did We Choose It?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cs typeface="Space Grotesk Medium" panose="020B0604020202020204" charset="0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296025" y="2398434"/>
            <a:ext cx="5210175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For travelers who want quick trip planning. Chosen because it is a practical real-world problem that effectively demonstrates LangGraph's workflow and agent capabilities.</a:t>
            </a:r>
            <a:endParaRPr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725" y="15144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57925" y="14763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Problem &amp; Solution</a:t>
            </a:r>
            <a:endParaRPr/>
          </a:p>
        </p:txBody>
      </p:sp>
      <p:pic>
        <p:nvPicPr>
          <p:cNvPr id="2" name="Google Shape;100;p15" descr="image.png">
            <a:extLst>
              <a:ext uri="{FF2B5EF4-FFF2-40B4-BE49-F238E27FC236}">
                <a16:creationId xmlns:a16="http://schemas.microsoft.com/office/drawing/2014/main" id="{1B6C9637-C68B-D733-33FC-108A1E6DFA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8360" y="4723894"/>
            <a:ext cx="8775968" cy="18201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C115ED-25BE-8111-7260-F036D7CF4FB9}"/>
              </a:ext>
            </a:extLst>
          </p:cNvPr>
          <p:cNvSpPr txBox="1"/>
          <p:nvPr/>
        </p:nvSpPr>
        <p:spPr>
          <a:xfrm>
            <a:off x="2281410" y="5463303"/>
            <a:ext cx="81295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An autonomous Trip Planner Agent that performs parallel research, merges information from multiple sources, and iteratively refines itineraries until they meet a predefined quality score.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pic>
        <p:nvPicPr>
          <p:cNvPr id="5" name="Google Shape;154;p19" descr="image.png">
            <a:extLst>
              <a:ext uri="{FF2B5EF4-FFF2-40B4-BE49-F238E27FC236}">
                <a16:creationId xmlns:a16="http://schemas.microsoft.com/office/drawing/2014/main" id="{E55A6EBA-7CBE-BEA3-6669-20DDF698BC5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52810" y="492893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97D853-BDB3-1CCF-EB3A-7754223C72B9}"/>
              </a:ext>
            </a:extLst>
          </p:cNvPr>
          <p:cNvSpPr txBox="1"/>
          <p:nvPr/>
        </p:nvSpPr>
        <p:spPr>
          <a:xfrm>
            <a:off x="2510010" y="4898613"/>
            <a:ext cx="6097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AI Solution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2545556" y="3091755"/>
            <a:ext cx="7100887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 &amp; Logic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581025" y="581025"/>
            <a:ext cx="519064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Hybrid Workflow</a:t>
            </a:r>
            <a:endParaRPr dirty="0"/>
          </a:p>
        </p:txBody>
      </p:sp>
      <p:pic>
        <p:nvPicPr>
          <p:cNvPr id="2" name="Google Shape;100;p15" descr="image.png">
            <a:extLst>
              <a:ext uri="{FF2B5EF4-FFF2-40B4-BE49-F238E27FC236}">
                <a16:creationId xmlns:a16="http://schemas.microsoft.com/office/drawing/2014/main" id="{513815DD-AB3B-9F49-729D-8C21C4ECD32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8125" y="1247776"/>
            <a:ext cx="5372100" cy="15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0;p15" descr="image.png">
            <a:extLst>
              <a:ext uri="{FF2B5EF4-FFF2-40B4-BE49-F238E27FC236}">
                <a16:creationId xmlns:a16="http://schemas.microsoft.com/office/drawing/2014/main" id="{5AC45828-422E-00EE-D970-160CC22B9F2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8125" y="3078991"/>
            <a:ext cx="5372100" cy="15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0;p15" descr="image.png">
            <a:extLst>
              <a:ext uri="{FF2B5EF4-FFF2-40B4-BE49-F238E27FC236}">
                <a16:creationId xmlns:a16="http://schemas.microsoft.com/office/drawing/2014/main" id="{1D03895A-2798-5D73-4CCC-B5BAD5F9383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743" y="4940631"/>
            <a:ext cx="5372100" cy="15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0;p15" descr="image.png">
            <a:extLst>
              <a:ext uri="{FF2B5EF4-FFF2-40B4-BE49-F238E27FC236}">
                <a16:creationId xmlns:a16="http://schemas.microsoft.com/office/drawing/2014/main" id="{AE0625F6-6606-9A2F-FC8E-034CA2CD39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0758" y="4910208"/>
            <a:ext cx="5372100" cy="15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;p15" descr="image.png">
            <a:extLst>
              <a:ext uri="{FF2B5EF4-FFF2-40B4-BE49-F238E27FC236}">
                <a16:creationId xmlns:a16="http://schemas.microsoft.com/office/drawing/2014/main" id="{F1067CAC-8A3E-88BA-3637-B102EDC243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0198" y="3078991"/>
            <a:ext cx="5372100" cy="15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0;p15" descr="image.png">
            <a:extLst>
              <a:ext uri="{FF2B5EF4-FFF2-40B4-BE49-F238E27FC236}">
                <a16:creationId xmlns:a16="http://schemas.microsoft.com/office/drawing/2014/main" id="{3ACE0109-EF7F-5D68-9233-56FA00A1C8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0198" y="1247775"/>
            <a:ext cx="5372100" cy="156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E4A55E-8A1E-430D-2463-D747352226DA}"/>
              </a:ext>
            </a:extLst>
          </p:cNvPr>
          <p:cNvSpPr txBox="1"/>
          <p:nvPr/>
        </p:nvSpPr>
        <p:spPr>
          <a:xfrm>
            <a:off x="238125" y="1247775"/>
            <a:ext cx="4510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ea typeface="Urbanist" panose="020B0604020202020204" charset="0"/>
                <a:cs typeface="Space Grotesk Medium" panose="020B0604020202020204" charset="0"/>
              </a:rPr>
              <a:t>State Management (Typed State)</a:t>
            </a:r>
            <a:endParaRPr lang="en-PK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ea typeface="Urbanist" panose="020B0604020202020204" charset="0"/>
              <a:cs typeface="Space Grotesk Medium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1B60FE-625C-A077-42A2-B7E609019C6A}"/>
              </a:ext>
            </a:extLst>
          </p:cNvPr>
          <p:cNvSpPr txBox="1"/>
          <p:nvPr/>
        </p:nvSpPr>
        <p:spPr>
          <a:xfrm>
            <a:off x="6581777" y="1293941"/>
            <a:ext cx="6097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cs typeface="Space Grotesk Medium" panose="020B0604020202020204" charset="0"/>
              </a:rPr>
              <a:t>Parallel Execution</a:t>
            </a:r>
            <a:endParaRPr lang="en-PK" sz="1400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ea typeface="Urbanist" panose="020B0604020202020204" charset="0"/>
              <a:cs typeface="Space Grotesk Medium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8D80F5-B0D4-0009-6A21-411340293B33}"/>
              </a:ext>
            </a:extLst>
          </p:cNvPr>
          <p:cNvSpPr txBox="1"/>
          <p:nvPr/>
        </p:nvSpPr>
        <p:spPr>
          <a:xfrm>
            <a:off x="329702" y="3128397"/>
            <a:ext cx="63402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cs typeface="Space Grotesk Medium" panose="020B0604020202020204" charset="0"/>
              </a:rPr>
              <a:t>Sequential Flow</a:t>
            </a:r>
            <a:endParaRPr lang="en-PK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cs typeface="Space Grotesk Medium" panose="020B060402020202020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155638-CD78-F62F-619B-4AECBE06EE91}"/>
              </a:ext>
            </a:extLst>
          </p:cNvPr>
          <p:cNvSpPr txBox="1"/>
          <p:nvPr/>
        </p:nvSpPr>
        <p:spPr>
          <a:xfrm>
            <a:off x="6581777" y="3167642"/>
            <a:ext cx="63402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cs typeface="Space Grotesk Medium" panose="020B0604020202020204" charset="0"/>
              </a:rPr>
              <a:t>Conditional Edges</a:t>
            </a:r>
            <a:endParaRPr lang="en-PK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cs typeface="Space Grotesk Medium" panose="020B060402020202020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70EC6-FE3E-B161-98D3-801F82684B48}"/>
              </a:ext>
            </a:extLst>
          </p:cNvPr>
          <p:cNvSpPr txBox="1"/>
          <p:nvPr/>
        </p:nvSpPr>
        <p:spPr>
          <a:xfrm>
            <a:off x="329702" y="5012821"/>
            <a:ext cx="6516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cs typeface="Space Grotesk Medium" panose="020B0604020202020204" charset="0"/>
              </a:rPr>
              <a:t>Iterative Loop</a:t>
            </a:r>
            <a:endParaRPr lang="en-PK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cs typeface="Space Grotesk Medium" panose="020B060402020202020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3B3E14-3288-6C89-7A56-A735F7AA7161}"/>
              </a:ext>
            </a:extLst>
          </p:cNvPr>
          <p:cNvSpPr txBox="1"/>
          <p:nvPr/>
        </p:nvSpPr>
        <p:spPr>
          <a:xfrm>
            <a:off x="6570758" y="5040253"/>
            <a:ext cx="6516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cs typeface="Space Grotesk Medium" panose="020B0604020202020204" charset="0"/>
              </a:rPr>
              <a:t>Tool Integration (Web Search)</a:t>
            </a:r>
            <a:endParaRPr lang="en-PK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cs typeface="Space Grotesk Medium" panose="020B060402020202020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D83404-0A0E-0A7E-0DEA-F27E8C1A3688}"/>
              </a:ext>
            </a:extLst>
          </p:cNvPr>
          <p:cNvSpPr txBox="1"/>
          <p:nvPr/>
        </p:nvSpPr>
        <p:spPr>
          <a:xfrm>
            <a:off x="238125" y="1802706"/>
            <a:ext cx="52262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Maintains shared context across all nodes without</a:t>
            </a:r>
          </a:p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losing data.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E63703-C0F3-23C4-56D0-293349A26015}"/>
              </a:ext>
            </a:extLst>
          </p:cNvPr>
          <p:cNvSpPr txBox="1"/>
          <p:nvPr/>
        </p:nvSpPr>
        <p:spPr>
          <a:xfrm>
            <a:off x="6556987" y="1794543"/>
            <a:ext cx="5186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Runs multiple research tasks simultaneously to improve </a:t>
            </a:r>
          </a:p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speed and efficiency.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D0DC43-EA51-4917-CCAA-AD1FF9F2B062}"/>
              </a:ext>
            </a:extLst>
          </p:cNvPr>
          <p:cNvSpPr txBox="1"/>
          <p:nvPr/>
        </p:nvSpPr>
        <p:spPr>
          <a:xfrm>
            <a:off x="280588" y="3736289"/>
            <a:ext cx="5183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Ensures ordered step-by-step execution for a structured pipeline.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A47918-EC07-15CC-C93B-8ACB2A312C6A}"/>
              </a:ext>
            </a:extLst>
          </p:cNvPr>
          <p:cNvSpPr txBox="1"/>
          <p:nvPr/>
        </p:nvSpPr>
        <p:spPr>
          <a:xfrm>
            <a:off x="6490198" y="3620099"/>
            <a:ext cx="52537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Routes workflow based on itinerary score for intelligent</a:t>
            </a:r>
          </a:p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decision-making.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31D048-386B-C3AE-16ED-8063F23D195E}"/>
              </a:ext>
            </a:extLst>
          </p:cNvPr>
          <p:cNvSpPr txBox="1"/>
          <p:nvPr/>
        </p:nvSpPr>
        <p:spPr>
          <a:xfrm>
            <a:off x="329702" y="5564059"/>
            <a:ext cx="65991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Repeats refinement process until output meets quality </a:t>
            </a:r>
          </a:p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threshold.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5756B6-646B-7E4D-66A7-22C28A745C8C}"/>
              </a:ext>
            </a:extLst>
          </p:cNvPr>
          <p:cNvSpPr txBox="1"/>
          <p:nvPr/>
        </p:nvSpPr>
        <p:spPr>
          <a:xfrm>
            <a:off x="6581777" y="5612244"/>
            <a:ext cx="51622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Fetches real-time external data to improve accuracy</a:t>
            </a:r>
          </a:p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of results.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3F1C1D-057F-A98C-ED6D-D393A0BCC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40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2735580" y="3091755"/>
            <a:ext cx="672084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 Demonstration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4186237" y="3968055"/>
            <a:ext cx="38195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Exploring the Streamlit Interface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1057275" y="3213496"/>
            <a:ext cx="47529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Destination &amp; Duration Input</a:t>
            </a:r>
            <a:endParaRPr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1057275" y="3756421"/>
            <a:ext cx="47529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Budget &amp; Travel Style Selection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1057275" y="4819530"/>
            <a:ext cx="475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Real-time status logs for graph nodes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1057275" y="5375657"/>
            <a:ext cx="475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Final Itinerary with review scores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95" name="Google Shape;19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5159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9452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33744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880371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118316" y="1029459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Streamlit UI &amp; Interaction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6A5DD5-67B5-11E9-BD77-6C2605B665F4}"/>
              </a:ext>
            </a:extLst>
          </p:cNvPr>
          <p:cNvSpPr txBox="1"/>
          <p:nvPr/>
        </p:nvSpPr>
        <p:spPr>
          <a:xfrm>
            <a:off x="954796" y="4241723"/>
            <a:ext cx="6208004" cy="439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Parallel Research Execution</a:t>
            </a:r>
          </a:p>
        </p:txBody>
      </p:sp>
      <p:pic>
        <p:nvPicPr>
          <p:cNvPr id="4" name="Google Shape;198;p22" descr="image.png">
            <a:extLst>
              <a:ext uri="{FF2B5EF4-FFF2-40B4-BE49-F238E27FC236}">
                <a16:creationId xmlns:a16="http://schemas.microsoft.com/office/drawing/2014/main" id="{878AE72C-7FA0-7FCC-CA33-20DCF77FCB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836" y="548379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207C29-36D6-DAED-DD5C-CCE6A51375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434" y="245041"/>
            <a:ext cx="4939381" cy="32153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BFC67B-541C-F43C-CE90-4016D81DAE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434" y="3519257"/>
            <a:ext cx="5359515" cy="29698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2719387" y="2129730"/>
            <a:ext cx="7090886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2719387" y="3529905"/>
            <a:ext cx="67532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time!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2488033" y="4278609"/>
            <a:ext cx="67532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https://github.com/maayra-anjum/trip-planner</a:t>
            </a:r>
            <a:endParaRPr sz="1600" dirty="0">
              <a:solidFill>
                <a:srgbClr val="0070C0"/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276</Words>
  <Application>Microsoft Office PowerPoint</Application>
  <PresentationFormat>Widescreen</PresentationFormat>
  <Paragraphs>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Urbanist</vt:lpstr>
      <vt:lpstr>Arial</vt:lpstr>
      <vt:lpstr>Calibri</vt:lpstr>
      <vt:lpstr>Space Grotesk</vt:lpstr>
      <vt:lpstr>Space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Maayra Anjum</cp:lastModifiedBy>
  <cp:revision>3</cp:revision>
  <dcterms:modified xsi:type="dcterms:W3CDTF">2026-06-09T13:28:27Z</dcterms:modified>
</cp:coreProperties>
</file>